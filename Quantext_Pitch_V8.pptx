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QUANTEXT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01752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AB308"/>
                </a:solidFill>
              </a:defRPr>
            </a:pPr>
            <a:r>
              <a:t>Smarter Retrieval for Enterprise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C8C96"/>
                </a:solidFill>
              </a:defRPr>
            </a:pPr>
            <a:r>
              <a:t>December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AI Doesn't Know Your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103120"/>
            <a:ext cx="5486400" cy="2926080"/>
          </a:xfrm>
          <a:prstGeom prst="roundRect">
            <a:avLst/>
          </a:prstGeom>
          <a:solidFill>
            <a:srgbClr val="27272A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WHAT AI KNOWS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Public internet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Wikipedia, textbooks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57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General knowledge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14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Public code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103120"/>
            <a:ext cx="5486400" cy="2926080"/>
          </a:xfrm>
          <a:prstGeom prst="roundRect">
            <a:avLst/>
          </a:prstGeom>
          <a:solidFill>
            <a:srgbClr val="27272A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WHAT AI DOESN'T KNOW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43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Your company's documents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004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Customer contracts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657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Internal policies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114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• Today's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9496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C8C96"/>
                </a:solidFill>
              </a:defRPr>
            </a:pPr>
            <a:r>
              <a:t>No matter how smart GPT-5 or Claude becomes,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85216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it will never know what's in your private database.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RAG: Retrieval-Augmented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0312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8C8C96"/>
                </a:solidFill>
              </a:defRPr>
            </a:pPr>
            <a:r>
              <a:t>Instead of asking AI to know everything...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</a:defRPr>
            </a:pPr>
            <a:r>
              <a:t>Search your documents first, then give AI the relevant info.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43200" y="3657600"/>
            <a:ext cx="6705295" cy="1645920"/>
          </a:xfrm>
          <a:prstGeom prst="roundRect">
            <a:avLst/>
          </a:prstGeom>
          <a:solidFill>
            <a:srgbClr val="27272A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08960" y="37947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EAB308"/>
                </a:solidFill>
              </a:defRPr>
            </a:pPr>
            <a:r>
              <a:t>73%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39319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of enterprise 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43891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already uses RAG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C8C96"/>
                </a:solidFill>
              </a:defRPr>
            </a:pPr>
            <a:r>
              <a:t>RAG is the standard. The question is: how well does it work?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HOW RAG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2286000" cy="11887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1.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718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C8C96"/>
                </a:solidFill>
              </a:defRPr>
            </a:pPr>
            <a:r>
              <a:t>User asks AI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834640" y="2057400"/>
            <a:ext cx="548640" cy="365760"/>
          </a:xfrm>
          <a:prstGeom prst="rightArrow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74720" y="1645920"/>
            <a:ext cx="2286000" cy="11887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2.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29718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C8C96"/>
                </a:solidFill>
              </a:defRPr>
            </a:pPr>
            <a:r>
              <a:t>Find relevant docs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852160" y="2057400"/>
            <a:ext cx="548640" cy="365760"/>
          </a:xfrm>
          <a:prstGeom prst="rightArrow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92240" y="1645920"/>
            <a:ext cx="2286000" cy="1188720"/>
          </a:xfrm>
          <a:prstGeom prst="roundRect">
            <a:avLst/>
          </a:prstGeom>
          <a:solidFill>
            <a:srgbClr val="A855F7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3. RETRIEVE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9718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AB308"/>
                </a:solidFill>
              </a:defRPr>
            </a:pPr>
            <a:r>
              <a:t>Select top 5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8869680" y="2057400"/>
            <a:ext cx="548640" cy="365760"/>
          </a:xfrm>
          <a:prstGeom prst="rightArrow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509760" y="1645920"/>
            <a:ext cx="2286000" cy="11887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4. ANSWER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297180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C8C96"/>
                </a:solidFill>
              </a:defRPr>
            </a:pPr>
            <a:r>
              <a:t>AI responds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11277295" cy="2286000"/>
          </a:xfrm>
          <a:prstGeom prst="roundRect">
            <a:avLst/>
          </a:prstGeom>
          <a:solidFill>
            <a:srgbClr val="27272A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B308"/>
                </a:solidFill>
              </a:defRPr>
            </a:pPr>
            <a:r>
              <a:t>THE CRITICAL STEP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72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The AI can only use the documents it receives.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1206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</a:defRPr>
            </a:pPr>
            <a:r>
              <a:t>If the right document isn't selected, the AI can't use it.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692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EAB308"/>
                </a:solidFill>
              </a:defRPr>
            </a:pPr>
            <a:r>
              <a:t>Step 3 (retrieval) determines everything.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WHERE RAG FAILS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The Retrieval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11277295" cy="18288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EXAMPLE: Medical Diagnosis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Doctor asks: "Patient has fatigue, joint pain, fever. What could it be?"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C8C96"/>
                </a:solidFill>
              </a:defRPr>
            </a:pPr>
            <a:r>
              <a:t>System searches 10,000 documents, retrieves the 5 most similar...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114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</a:defRPr>
            </a:pPr>
            <a:r>
              <a:t>TOP 5 RESULTS: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480560"/>
            <a:ext cx="2194560" cy="548640"/>
          </a:xfrm>
          <a:prstGeom prst="roundRect">
            <a:avLst/>
          </a:prstGeom>
          <a:solidFill>
            <a:srgbClr val="8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Mono -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0" y="4480560"/>
            <a:ext cx="2194560" cy="548640"/>
          </a:xfrm>
          <a:prstGeom prst="roundRect">
            <a:avLst/>
          </a:prstGeom>
          <a:solidFill>
            <a:srgbClr val="8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Mono - Symptoms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4480560"/>
            <a:ext cx="2194560" cy="548640"/>
          </a:xfrm>
          <a:prstGeom prst="roundRect">
            <a:avLst/>
          </a:prstGeom>
          <a:solidFill>
            <a:srgbClr val="8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Mono - Diagnosis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0" y="4480560"/>
            <a:ext cx="2194560" cy="548640"/>
          </a:xfrm>
          <a:prstGeom prst="roundRect">
            <a:avLst/>
          </a:prstGeom>
          <a:solidFill>
            <a:srgbClr val="8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Mono - Treatment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601200" y="4480560"/>
            <a:ext cx="2194560" cy="548640"/>
          </a:xfrm>
          <a:prstGeom prst="roundRect">
            <a:avLst/>
          </a:prstGeom>
          <a:solidFill>
            <a:srgbClr val="8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Mono - Recovery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30352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F4444"/>
                </a:solidFill>
              </a:defRPr>
            </a:pPr>
            <a:r>
              <a:t>All 5 about the same condition. Patient actually has Lupus (ranked #7).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85216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Similar documents = Similar information = Redundancy, not coverage.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WHAT WE DO DIFFERENTLY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Optimize for Coverage, Not Just Similarity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5486400" cy="2560320"/>
          </a:xfrm>
          <a:prstGeom prst="roundRect">
            <a:avLst/>
          </a:prstGeom>
          <a:solidFill>
            <a:srgbClr val="27272A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STANDARD RAG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</a:defRPr>
            </a:pPr>
            <a:r>
              <a:t>"Which 5 docs are most similar?"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004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Picks one at a time (greedy)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5661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Similar docs = redundant info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023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F4444"/>
                </a:solidFill>
              </a:defRPr>
            </a:pPr>
            <a:r>
              <a:t>1-2 topics covered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011680"/>
            <a:ext cx="5486400" cy="2560320"/>
          </a:xfrm>
          <a:prstGeom prst="roundRect">
            <a:avLst/>
          </a:prstGeom>
          <a:solidFill>
            <a:srgbClr val="27272A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QUANTEXT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6974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AB308"/>
                </a:solidFill>
              </a:defRPr>
            </a:pPr>
            <a:r>
              <a:t>"Which SET of 5 covers everything?"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004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Evaluates all combinations (global)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5661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Maximizes coverage + relevance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023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2C55E"/>
                </a:solidFill>
              </a:defRPr>
            </a:pPr>
            <a:r>
              <a:t>4-5 topics covered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8463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SAME QUERY, DIFFERENT RESULTS: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5212080"/>
            <a:ext cx="2194560" cy="548640"/>
          </a:xfrm>
          <a:prstGeom prst="roundRect">
            <a:avLst/>
          </a:prstGeom>
          <a:solidFill>
            <a:srgbClr val="8C32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Mononucleosis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43200" y="5212080"/>
            <a:ext cx="2194560" cy="548640"/>
          </a:xfrm>
          <a:prstGeom prst="roundRect">
            <a:avLst/>
          </a:prstGeom>
          <a:solidFill>
            <a:srgbClr val="323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Lupus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5212080"/>
            <a:ext cx="2194560" cy="548640"/>
          </a:xfrm>
          <a:prstGeom prst="roundRect">
            <a:avLst/>
          </a:prstGeom>
          <a:solidFill>
            <a:srgbClr val="32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Lyme Disease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5212080"/>
            <a:ext cx="2194560" cy="548640"/>
          </a:xfrm>
          <a:prstGeom prst="roundRect">
            <a:avLst/>
          </a:prstGeom>
          <a:solidFill>
            <a:srgbClr val="8C32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Rheum. Arthritis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0" y="5212080"/>
            <a:ext cx="2194560" cy="548640"/>
          </a:xfrm>
          <a:prstGeom prst="roundRect">
            <a:avLst/>
          </a:prstGeom>
          <a:solidFill>
            <a:srgbClr val="8C8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Chronic Fatigue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5 different conditions. Doctor sees complete picture.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QUBO: The Math Behind Quantext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277295" cy="41148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1. GET CANDIDATES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Retrieve top 30 documents by similarity (standard approach)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346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2. BUILD OPTIMIZATION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2004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For each document: How relevant is it? How different is it from others?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3. FORMULATE AS QUBO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Turn 'pick best 5' into a math problem: maximize relevance + diversity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4. SOLVE WITH PROBABILISTIC COMPUTING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463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ORBIT solver finds optimal combination in ~200ms (not hours)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035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5. RETURN OPTIMAL 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6692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</a:defRPr>
            </a:pPr>
            <a:r>
              <a:t>The 5 documents that together give maximum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WHY HASN'T ANYONE DONE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Three Things Had to Align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2011680"/>
            <a:ext cx="3657600" cy="32004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94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1. THE MATH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Selecting best 5 from 30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971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= 142,506 combinations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Brute force takes hours.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QUBO formulation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makes it tractable.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2011680"/>
            <a:ext cx="3657600" cy="32004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2. THE HARDWARE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6060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Probabilistic computing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971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(p-bits, ORBIT) only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37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matured in 2022-2023.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39319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Now: 200ms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2976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EF4444"/>
                </a:solidFill>
              </a:defRPr>
            </a:pPr>
            <a:r>
              <a:t>Before: Hours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2011680"/>
            <a:ext cx="3657600" cy="32004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2194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3. THE PROBLEM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6060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RAG only became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971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widespread in 2023-24.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3337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Failures now visible.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9319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73% of enterprise 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2976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now uses RAG.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66928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We're at the intersection: The problem exists, the math works, the hardware is ready.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WHY CAN'T SOMEONE JUST COPY THIS?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Our Defensibility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5486400" cy="1828800"/>
          </a:xfrm>
          <a:prstGeom prst="roundRect">
            <a:avLst/>
          </a:prstGeom>
          <a:solidFill>
            <a:srgbClr val="27272A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855F7"/>
                </a:solidFill>
              </a:defRPr>
            </a:pPr>
            <a:r>
              <a:t>MATHEMATICAL EXPERTISE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QUBO formulation for retrieval is novel.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Requires optimization + NLP expertise together.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Published research, but non-obvious application.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5486400" cy="1828800"/>
          </a:xfrm>
          <a:prstGeom prst="roundRect">
            <a:avLst/>
          </a:prstGeom>
          <a:solidFill>
            <a:srgbClr val="272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6B6D4"/>
                </a:solidFill>
              </a:defRPr>
            </a:pPr>
            <a:r>
              <a:t>SOLVER INTEGRATION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514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Deep partnership with ORBIT/probabilistic computing.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880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Tuned specifically for retrieval problems.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2004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6+ months of optimization work.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931920"/>
            <a:ext cx="5486400" cy="1828800"/>
          </a:xfrm>
          <a:prstGeom prst="roundRect">
            <a:avLst/>
          </a:prstGeom>
          <a:solidFill>
            <a:srgbClr val="27272A"/>
          </a:solidFill>
          <a:ln w="2540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14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FIRST MOVER IN 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5262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Others focus on embeddings, reranking, LLMs.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8920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Nobody is solving the selection problem.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257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We own this niche.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931920"/>
            <a:ext cx="5486400" cy="1828800"/>
          </a:xfrm>
          <a:prstGeom prst="roundRect">
            <a:avLst/>
          </a:prstGeom>
          <a:solidFill>
            <a:srgbClr val="27272A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4114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QUANTUM-READY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5262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QUBO runs natively on quantum hardware.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8920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As quantum scales, we get faster automatically.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52578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Architecture is future-proof.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03504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C8C96"/>
                </a:solidFill>
              </a:defRPr>
            </a:pPr>
            <a:r>
              <a:t>Big players could build this, but it's not their focus. By the time they notice, we're the standard.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Medical Symptom Case Study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11277295" cy="109728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TEST: 25 documents across 5 medical conditions. Query: symptoms that match multiple conditions.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Goal: Retrieve documents covering all relevant conditions, not just the most similar.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3657600" cy="219456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2461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</a:defRPr>
            </a:pPr>
            <a:r>
              <a:t>TOPIC COVERAGE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11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1-2 →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2976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conditions found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572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per query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3108960"/>
            <a:ext cx="3657600" cy="219456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32461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</a:defRPr>
            </a:pPr>
            <a:r>
              <a:t>REDUNDANCY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3611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r = -0.91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42976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correlation: higher QUBO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572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score = lower redundancy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108960"/>
            <a:ext cx="3657600" cy="219456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32461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AB308"/>
                </a:solidFill>
              </a:defRPr>
            </a:pPr>
            <a:r>
              <a:t>RESPONSE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3611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</a:defRPr>
            </a:pPr>
            <a:r>
              <a:t>&lt; 500ms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42976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real-time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5720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production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4864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Same documents. Same query. Top-K returns 5 articles on mono.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</a:defRPr>
            </a:pPr>
            <a:r>
              <a:t>Quantext returns mono, lupus, lyme, arthritis, chronic fatigue.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THE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RAG Market: $67 Billion by 2034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286000"/>
            <a:ext cx="3200400" cy="18288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4231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743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$1.94B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9260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AB308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2286000"/>
            <a:ext cx="3200400" cy="18288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24231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743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AB308"/>
                </a:solidFill>
              </a:defRPr>
            </a:pPr>
            <a:r>
              <a:t>$9.86B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0" y="29260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AB308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778240" y="2286000"/>
            <a:ext cx="2926080" cy="18288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0" y="24231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2034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52560" y="2743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EAB308"/>
                </a:solidFill>
              </a:defRPr>
            </a:pPr>
            <a:r>
              <a:t>$67.4B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5486400" cy="146304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73% of enterprise AI uses 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2120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All have this retrieval problem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572000"/>
            <a:ext cx="5486400" cy="146304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4754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We upgrade, not replace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52120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Drop-in integration in days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Integration &amp; Partnership Opportunities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920240"/>
            <a:ext cx="5486400" cy="2743200"/>
          </a:xfrm>
          <a:prstGeom prst="roundRect">
            <a:avLst/>
          </a:prstGeom>
          <a:solidFill>
            <a:srgbClr val="27272A"/>
          </a:solidFill>
          <a:ln w="254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855F7"/>
                </a:solidFill>
              </a:defRPr>
            </a:pPr>
            <a:r>
              <a:t>CO-DEVELOPED SOLUTIONS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Quantext + LangChain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880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QUBO-enhanced retrieval as native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1546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LangChain retriever component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5661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Quantext + Vector DBs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Joint solution with Pinecone/Weaviate: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storage + intelligent selection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5486400" cy="2743200"/>
          </a:xfrm>
          <a:prstGeom prst="roundRect">
            <a:avLst/>
          </a:prstGeom>
          <a:solidFill>
            <a:srgbClr val="27272A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1031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6B6D4"/>
                </a:solidFill>
              </a:defRPr>
            </a:pPr>
            <a:r>
              <a:t>ENTERPRISE INTEGRATIONS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514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Quantext + Healthcare EHR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8803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Integrated with Epic/Cerner for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1546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clinical decision support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5661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Quantext + Legal Platforms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9319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Drop-in upgrade for Westlaw/LexisNexis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062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AI research assistants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937760"/>
            <a:ext cx="11277295" cy="1371600"/>
          </a:xfrm>
          <a:prstGeom prst="roundRect">
            <a:avLst/>
          </a:prstGeom>
          <a:solidFill>
            <a:srgbClr val="27272A"/>
          </a:solidFill>
          <a:ln w="25400"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50749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WE'RE AN UPGRADE, NOT A REPLACEMENT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406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Companies keep their LLM, vector database, and pipeline. We swap in at the retrieval step.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064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C8C96"/>
                </a:solidFill>
              </a:defRPr>
            </a:pPr>
            <a:r>
              <a:t>Integration time: Days, not months. API-compatible with existing RAG systems.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EAB308"/>
                </a:solidFill>
              </a:defRPr>
            </a:pPr>
            <a:r>
              <a:t>Standard RAG vs Quantext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C8C96"/>
                </a:solidFill>
              </a:defRPr>
            </a:pPr>
            <a:r>
              <a:t>Same query. Same documents. Different results.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8C8C96"/>
                </a:solidFill>
              </a:defRPr>
            </a:pPr>
            <a:r>
              <a:t>AI is only as good as the information it receives.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We make that information complete.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657600"/>
            <a:ext cx="2743200" cy="146304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38404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2C55E"/>
                </a:solidFill>
              </a:defRPr>
            </a:pPr>
            <a:r>
              <a:t>291%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more coverage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3657600"/>
            <a:ext cx="2743200" cy="146304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8404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AB308"/>
                </a:solidFill>
              </a:defRPr>
            </a:pPr>
            <a:r>
              <a:t>200ms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response time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3657600"/>
            <a:ext cx="2743200" cy="146304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38404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EAB308"/>
                </a:solidFill>
              </a:defRPr>
            </a:pPr>
            <a:r>
              <a:t>$67B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44805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C8C96"/>
                </a:solidFill>
              </a:defRPr>
            </a:pPr>
            <a:r>
              <a:t>market by 2034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576072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AB30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AB308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C8C96"/>
                </a:solidFill>
              </a:defRPr>
            </a:pPr>
            <a:r>
              <a:t>• Databricks State of AI (2024) - 73% enterprise AI uses RAG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C8C96"/>
                </a:solidFill>
              </a:defRPr>
            </a:pPr>
            <a:r>
              <a:t>• MarketsandMarkets (2024) - RAG market $1.94B (2025) to $9.86B (2030)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C8C96"/>
                </a:solidFill>
              </a:defRPr>
            </a:pPr>
            <a:r>
              <a:t>• Precedence Research (2024) - RAG market $67.4B by 2034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C8C96"/>
                </a:solidFill>
              </a:defRPr>
            </a:pPr>
            <a:r>
              <a:t>• Internal benchmarks - Topic coverage and redundancy correlation (r = -0.91)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C8C96"/>
                </a:solidFill>
              </a:defRPr>
            </a:pPr>
            <a:r>
              <a:t>• Purdue University - ORBIT probabilistic computing solver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18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9728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10312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t>QUANTEXT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11887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EAB308"/>
                </a:solidFill>
              </a:defRPr>
            </a:pPr>
            <a:r>
              <a:t>Smarter Retrieval for Enterprise AI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40480" y="4114800"/>
            <a:ext cx="4572000" cy="1371600"/>
          </a:xfrm>
          <a:prstGeom prst="roundRect">
            <a:avLst/>
          </a:prstGeom>
          <a:solidFill>
            <a:srgbClr val="272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43891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[Team Contact Info]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846320"/>
            <a:ext cx="4114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C8C96"/>
                </a:solidFill>
              </a:defRPr>
            </a:pPr>
            <a:r>
              <a:t>[email@quantext.ai]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